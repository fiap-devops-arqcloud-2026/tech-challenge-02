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13248" y="960120"/>
            <a:ext cx="1360627" cy="702259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59398" y="1047902"/>
            <a:ext cx="526694" cy="5266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ToggleMaster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BFE8E0"/>
                </a:solidFill>
                <a:latin typeface="Calibri"/>
              </a:rPr>
              <a:t>Feature flags como microsserviços no Kubernetes (AWS EKS)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3977639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3977639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Tech Challenge — Fase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FB8B2"/>
                </a:solidFill>
                <a:latin typeface="Calibri"/>
              </a:rPr>
              <a:t>FIAP POSTECH · DevOps e Arquitetura Cloud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O que é o ToggleMaster?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A explicação simples, sem jargão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1F3237"/>
                </a:solidFill>
                <a:latin typeface="Calibri"/>
              </a:rPr>
              <a:t>Um sistema de </a:t>
            </a:r>
            <a:r>
              <a:rPr sz="1600" b="1" i="0">
                <a:solidFill>
                  <a:srgbClr val="028090"/>
                </a:solidFill>
                <a:latin typeface="Calibri"/>
              </a:rPr>
              <a:t>interruptores de funcionalidades</a:t>
            </a:r>
            <a:r>
              <a:rPr sz="1600" b="0" i="0">
                <a:solidFill>
                  <a:srgbClr val="1F3237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1F3237"/>
                </a:solidFill>
                <a:latin typeface="Calibri"/>
              </a:rPr>
              <a:t>Quer lançar um botão novo no aplicativo, mas só para 10% dos usuários, para testar antes?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1F3237"/>
                </a:solidFill>
                <a:latin typeface="Calibri"/>
              </a:rPr>
              <a:t>Em vez de reescrever o app a cada mudança, o app </a:t>
            </a:r>
            <a:r>
              <a:rPr sz="1600" b="1" i="0">
                <a:solidFill>
                  <a:srgbClr val="1F3237"/>
                </a:solidFill>
                <a:latin typeface="Calibri"/>
              </a:rPr>
              <a:t>pergunta</a:t>
            </a:r>
            <a:r>
              <a:rPr sz="1600" b="0" i="0">
                <a:solidFill>
                  <a:srgbClr val="1F3237"/>
                </a:solidFill>
                <a:latin typeface="Calibri"/>
              </a:rPr>
              <a:t> ao ToggleMaster: </a:t>
            </a:r>
            <a:r>
              <a:rPr sz="1600" b="0" i="1">
                <a:solidFill>
                  <a:srgbClr val="028090"/>
                </a:solidFill>
                <a:latin typeface="Calibri"/>
              </a:rPr>
              <a:t>“para este usuário, o recurso está ligado?”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1F3237"/>
                </a:solidFill>
                <a:latin typeface="Calibri"/>
              </a:rPr>
              <a:t>E recebe um </a:t>
            </a:r>
            <a:r>
              <a:rPr sz="1600" b="1" i="0">
                <a:solidFill>
                  <a:srgbClr val="1F3237"/>
                </a:solidFill>
                <a:latin typeface="Calibri"/>
              </a:rPr>
              <a:t>sim ou não em milissegundos</a:t>
            </a:r>
            <a:r>
              <a:rPr sz="1600" b="0" i="0">
                <a:solidFill>
                  <a:srgbClr val="1F3237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Por que isso importa?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B7176"/>
                </a:solidFill>
                <a:latin typeface="Calibri"/>
              </a:rPr>
              <a:t>Lançamentos graduais e seguros, testes A/B e a possibilidade de “desligar” um recurso com problema na hora — sem publicar uma nova versão do aplicativo.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194560" cy="1005840"/>
          </a:xfrm>
          <a:prstGeom prst="roundRect">
            <a:avLst>
              <a:gd name="adj" fmla="val 16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45920"/>
            <a:ext cx="1975104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O aplicativo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pergunta: “botão novo
para o usuário u1?”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0" y="2148840"/>
            <a:ext cx="548640" cy="0"/>
          </a:xfrm>
          <a:prstGeom prst="line">
            <a:avLst/>
          </a:prstGeom>
          <a:ln w="22225">
            <a:solidFill>
              <a:srgbClr val="5B71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1554480"/>
            <a:ext cx="2377440" cy="118872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6642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ToggleMaster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212848"/>
            <a:ext cx="651967" cy="336499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15930" y="2254910"/>
            <a:ext cx="252374" cy="2523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332720" y="3291840"/>
            <a:ext cx="0" cy="548640"/>
          </a:xfrm>
          <a:prstGeom prst="line">
            <a:avLst/>
          </a:prstGeom>
          <a:ln w="22225">
            <a:solidFill>
              <a:srgbClr val="5B71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3886200"/>
            <a:ext cx="2377440" cy="82296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3886200"/>
            <a:ext cx="21579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7333A"/>
                </a:solidFill>
                <a:latin typeface="Calibri"/>
              </a:rPr>
              <a:t>Resposta: SIM ✓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07333A"/>
                </a:solidFill>
                <a:latin typeface="Calibri"/>
              </a:rPr>
              <a:t>em milissegundos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B7176"/>
                </a:solidFill>
                <a:latin typeface="Calibri"/>
              </a:rPr>
              <a:t>Na Fase 1 era um sistema único (monolito). Nesta fase ele virou 5 mini-sistemas independentes — os microsserviços — rodando na nuvem.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A missão da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Do sistema único ao ecossistema distribuído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377440" cy="2011680"/>
          </a:xfrm>
          <a:prstGeom prst="roundRect">
            <a:avLst>
              <a:gd name="adj" fmla="val 10000"/>
            </a:avLst>
          </a:prstGeom>
          <a:solidFill>
            <a:srgbClr val="D7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1F3237"/>
                </a:solidFill>
                <a:latin typeface="Calibri"/>
              </a:rPr>
              <a:t>Monolito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B7176"/>
                </a:solidFill>
                <a:latin typeface="Calibri"/>
              </a:rPr>
              <a:t>(Fase 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834640"/>
            <a:ext cx="822960" cy="0"/>
          </a:xfrm>
          <a:prstGeom prst="line">
            <a:avLst/>
          </a:prstGeom>
          <a:ln w="31750">
            <a:solidFill>
              <a:srgbClr val="028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828800"/>
            <a:ext cx="1645920" cy="9601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828800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auth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1645920" cy="9601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828800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flag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828800"/>
            <a:ext cx="1645920" cy="9601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828800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targeting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971800"/>
            <a:ext cx="1645920" cy="9601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971800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evaluation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971800"/>
            <a:ext cx="1645920" cy="9601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971800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analytics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14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B7176"/>
                </a:solidFill>
                <a:latin typeface="Calibri"/>
              </a:rPr>
              <a:t>5 microsserviços independentes (Go e Python)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0292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28090"/>
                </a:solidFill>
                <a:latin typeface="Calibri"/>
              </a:rPr>
              <a:t>1. Conteinerizar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7176"/>
                </a:solidFill>
                <a:latin typeface="Calibri"/>
              </a:rPr>
              <a:t>Dockerfile para cada serviço + docker compose local (9 contêineres)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39" y="489204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1" y="50292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28090"/>
                </a:solidFill>
                <a:latin typeface="Calibri"/>
              </a:rPr>
              <a:t>2. Provisionar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7176"/>
                </a:solidFill>
                <a:latin typeface="Calibri"/>
              </a:rPr>
              <a:t>EKS, ECR, RDS, ElastiCache, SQS e DynamoDB na AWS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89204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1" y="50292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28090"/>
                </a:solidFill>
                <a:latin typeface="Calibri"/>
              </a:rPr>
              <a:t>3. Implantar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7176"/>
                </a:solidFill>
                <a:latin typeface="Calibri"/>
              </a:rPr>
              <a:t>Manifestos Kubernetes: deployments, services, secrets, ingress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89204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50292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28090"/>
                </a:solidFill>
                <a:latin typeface="Calibri"/>
              </a:rPr>
              <a:t>4. Escalar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7176"/>
                </a:solidFill>
                <a:latin typeface="Calibri"/>
              </a:rPr>
              <a:t>HPA: mais réplicas automaticamente quando a carga sobe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Os 5 microsserviços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Cada um com uma única responsabilidade — e o banco certo para 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337560" cy="2148840"/>
          </a:xfrm>
          <a:prstGeom prst="roundRect">
            <a:avLst>
              <a:gd name="adj" fmla="val 9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73352"/>
            <a:ext cx="453542" cy="23408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0236" y="1702612"/>
            <a:ext cx="175564" cy="1755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6002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auth-service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F3237"/>
                </a:solidFill>
                <a:latin typeface="Calibri"/>
              </a:rPr>
              <a:t>O porteiro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Cria e valida as chaves de acesso (API keys)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Go · PostgreSQL (RDS)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37560" cy="2148840"/>
          </a:xfrm>
          <a:prstGeom prst="roundRect">
            <a:avLst>
              <a:gd name="adj" fmla="val 9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673352"/>
            <a:ext cx="453542" cy="23408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2156" y="1702612"/>
            <a:ext cx="175564" cy="1755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6002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flag-service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1031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F3237"/>
                </a:solidFill>
                <a:latin typeface="Calibri"/>
              </a:rPr>
              <a:t>O cadastro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Cria, edita e lista as feature flags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Python · PostgreSQL (RDS)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3337560" cy="2148840"/>
          </a:xfrm>
          <a:prstGeom prst="roundRect">
            <a:avLst>
              <a:gd name="adj" fmla="val 9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1673352"/>
            <a:ext cx="453542" cy="23408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44076" y="1702612"/>
            <a:ext cx="175564" cy="1755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targeting-service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031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F3237"/>
                </a:solidFill>
                <a:latin typeface="Calibri"/>
              </a:rPr>
              <a:t>O estrategista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Regras de quem vê o quê (ex.: 10% dos usuários)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Python · PostgreSQL (pod)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069080"/>
            <a:ext cx="3337560" cy="2148840"/>
          </a:xfrm>
          <a:prstGeom prst="roundRect">
            <a:avLst>
              <a:gd name="adj" fmla="val 9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97480" y="4325112"/>
            <a:ext cx="453542" cy="23408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46196" y="4354372"/>
            <a:ext cx="175564" cy="1755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2519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evaluation-service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75488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F3237"/>
                </a:solidFill>
                <a:latin typeface="Calibri"/>
              </a:rPr>
              <a:t>O atendente rápido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Responde sim/não a cada pergunta — o “hot path”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Go · cache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69080"/>
            <a:ext cx="3337560" cy="2148840"/>
          </a:xfrm>
          <a:prstGeom prst="roundRect">
            <a:avLst>
              <a:gd name="adj" fmla="val 9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29400" y="4325112"/>
            <a:ext cx="453542" cy="23408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78116" y="4354372"/>
            <a:ext cx="175564" cy="1755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2519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analytics-service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75488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F3237"/>
                </a:solidFill>
                <a:latin typeface="Calibri"/>
              </a:rPr>
              <a:t>O contador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Registra cada avaliação para estatísticas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Python · SQS + DynamoDB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A arquitetura na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Como uma pergunta vira resposta — e vira estatística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15544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298448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Cliente / App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1581912"/>
            <a:ext cx="548640" cy="0"/>
          </a:xfrm>
          <a:prstGeom prst="line">
            <a:avLst/>
          </a:prstGeom>
          <a:ln w="22225">
            <a:solidFill>
              <a:srgbClr val="028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40" y="1298448"/>
            <a:ext cx="2011680" cy="566928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298448"/>
            <a:ext cx="17922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Load Balancer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1581912"/>
            <a:ext cx="1874520" cy="502919"/>
          </a:xfrm>
          <a:prstGeom prst="line">
            <a:avLst/>
          </a:prstGeom>
          <a:ln w="22225">
            <a:solidFill>
              <a:srgbClr val="028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011680"/>
            <a:ext cx="11201400" cy="2514600"/>
          </a:xfrm>
          <a:prstGeom prst="roundRect">
            <a:avLst>
              <a:gd name="adj" fmla="val 5000"/>
            </a:avLst>
          </a:prstGeom>
          <a:solidFill>
            <a:srgbClr val="F4FBF9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10312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Cluster Kubernetes (EKS) — 2 máquinas, auto scaling 1–4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084831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084831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Nginx Ingress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788920"/>
            <a:ext cx="1783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788920"/>
            <a:ext cx="15636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auth-service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64207" y="2542032"/>
            <a:ext cx="4828033" cy="246888"/>
          </a:xfrm>
          <a:prstGeom prst="line">
            <a:avLst/>
          </a:prstGeom>
          <a:ln w="12700">
            <a:solidFill>
              <a:srgbClr val="00A8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2788920"/>
            <a:ext cx="1783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2788920"/>
            <a:ext cx="15636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flag-service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630168" y="2542032"/>
            <a:ext cx="2862072" cy="246888"/>
          </a:xfrm>
          <a:prstGeom prst="line">
            <a:avLst/>
          </a:prstGeom>
          <a:ln w="12700">
            <a:solidFill>
              <a:srgbClr val="00A8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709160" y="2788920"/>
            <a:ext cx="1783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788920"/>
            <a:ext cx="15636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targeting-service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96128" y="2542032"/>
            <a:ext cx="896112" cy="246888"/>
          </a:xfrm>
          <a:prstGeom prst="line">
            <a:avLst/>
          </a:prstGeom>
          <a:ln w="12700">
            <a:solidFill>
              <a:srgbClr val="00A8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75120" y="2788920"/>
            <a:ext cx="1783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2788920"/>
            <a:ext cx="15636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evaluation-service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92240" y="2542032"/>
            <a:ext cx="1069848" cy="246888"/>
          </a:xfrm>
          <a:prstGeom prst="line">
            <a:avLst/>
          </a:prstGeom>
          <a:ln w="12700">
            <a:solidFill>
              <a:srgbClr val="00A8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2788920"/>
            <a:ext cx="1783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0807" y="2788920"/>
            <a:ext cx="15636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analytics-service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92240" y="2542032"/>
            <a:ext cx="3035808" cy="246888"/>
          </a:xfrm>
          <a:prstGeom prst="line">
            <a:avLst/>
          </a:prstGeom>
          <a:ln w="12700">
            <a:solidFill>
              <a:srgbClr val="00A8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709160" y="3703320"/>
            <a:ext cx="1783080" cy="621792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3703320"/>
            <a:ext cx="15636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3237"/>
                </a:solidFill>
                <a:latin typeface="Calibri"/>
              </a:rPr>
              <a:t>postgres-targeting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7176"/>
                </a:solidFill>
                <a:latin typeface="Calibri"/>
              </a:rPr>
              <a:t>banco em pod + disco EBS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596128" y="3355848"/>
            <a:ext cx="0" cy="347472"/>
          </a:xfrm>
          <a:prstGeom prst="line">
            <a:avLst/>
          </a:prstGeom>
          <a:ln w="15875">
            <a:solidFill>
              <a:srgbClr val="5B71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2920" y="4800600"/>
            <a:ext cx="11201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486460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5B7176"/>
                </a:solidFill>
                <a:latin typeface="Calibri"/>
              </a:rPr>
              <a:t>Serviços gerenciados da AWS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184648"/>
            <a:ext cx="1874519" cy="7315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184648"/>
            <a:ext cx="16550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RDS auth_db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7176"/>
                </a:solidFill>
                <a:latin typeface="Calibri"/>
              </a:rPr>
              <a:t>banco do auth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94660" y="5184648"/>
            <a:ext cx="1874519" cy="7315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4388" y="5184648"/>
            <a:ext cx="16550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RDS flags_db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7176"/>
                </a:solidFill>
                <a:latin typeface="Calibri"/>
              </a:rPr>
              <a:t>banco das flags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66360" y="5184648"/>
            <a:ext cx="1874519" cy="7315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76088" y="5184648"/>
            <a:ext cx="16550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ElastiCache Redis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7176"/>
                </a:solidFill>
                <a:latin typeface="Calibri"/>
              </a:rPr>
              <a:t>cache do hot path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38060" y="5184648"/>
            <a:ext cx="1874519" cy="7315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7788" y="5184648"/>
            <a:ext cx="16550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Fila SQS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7176"/>
                </a:solidFill>
                <a:latin typeface="Calibri"/>
              </a:rPr>
              <a:t>eventos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5184648"/>
            <a:ext cx="1874519" cy="731520"/>
          </a:xfrm>
          <a:prstGeom prst="roundRect">
            <a:avLst>
              <a:gd name="adj" fmla="val 16000"/>
            </a:avLst>
          </a:prstGeom>
          <a:solidFill>
            <a:srgbClr val="E9F6F3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19488" y="5184648"/>
            <a:ext cx="16550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F3237"/>
                </a:solidFill>
                <a:latin typeface="Calibri"/>
              </a:rPr>
              <a:t>DynamoDB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7176"/>
                </a:solidFill>
                <a:latin typeface="Calibri"/>
              </a:rPr>
              <a:t>estatísticas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664208" y="3355848"/>
            <a:ext cx="91440" cy="1444752"/>
          </a:xfrm>
          <a:prstGeom prst="line">
            <a:avLst/>
          </a:prstGeom>
          <a:ln w="15875">
            <a:solidFill>
              <a:srgbClr val="5B71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630168" y="3355848"/>
            <a:ext cx="301752" cy="1444752"/>
          </a:xfrm>
          <a:prstGeom prst="line">
            <a:avLst/>
          </a:prstGeom>
          <a:ln w="15875">
            <a:solidFill>
              <a:srgbClr val="5B71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126480" y="3355848"/>
            <a:ext cx="1188720" cy="1444752"/>
          </a:xfrm>
          <a:prstGeom prst="line">
            <a:avLst/>
          </a:prstGeom>
          <a:ln w="15875">
            <a:solidFill>
              <a:srgbClr val="5B71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18120" y="3355848"/>
            <a:ext cx="457200" cy="1444752"/>
          </a:xfrm>
          <a:prstGeom prst="line">
            <a:avLst/>
          </a:prstGeom>
          <a:ln w="25400">
            <a:solidFill>
              <a:srgbClr val="02C3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595360" y="3355848"/>
            <a:ext cx="822960" cy="1444752"/>
          </a:xfrm>
          <a:prstGeom prst="line">
            <a:avLst/>
          </a:prstGeom>
          <a:ln w="25400">
            <a:solidFill>
              <a:srgbClr val="02C3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92640" y="3355848"/>
            <a:ext cx="749808" cy="1444752"/>
          </a:xfrm>
          <a:prstGeom prst="line">
            <a:avLst/>
          </a:prstGeom>
          <a:ln w="25400">
            <a:solidFill>
              <a:srgbClr val="02C3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498079" y="61722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00A896"/>
                </a:solidFill>
                <a:latin typeface="Calibri"/>
              </a:rPr>
              <a:t>Setas verdes = caminho assíncrono: </a:t>
            </a:r>
            <a:r>
              <a:rPr sz="1050" b="0" i="0">
                <a:solidFill>
                  <a:srgbClr val="5B7176"/>
                </a:solidFill>
                <a:latin typeface="Calibri"/>
              </a:rPr>
              <a:t>a resposta não espera a estatística.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1722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O Ingress olha a URL (/evaluate, /flags, /rules…) e encaminha ao serviço certo. O evaluation consulta auth, flag e targeting por dentro do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Três memórias, três propósitos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Por que usar 3 tipos de banco diferentes?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703320" cy="4206240"/>
          </a:xfrm>
          <a:prstGeom prst="roundRect">
            <a:avLst>
              <a:gd name="adj" fmla="val 7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84248" y="192024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1920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RDS · PostgreSQL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350" b="0" i="1">
                <a:solidFill>
                  <a:srgbClr val="5B7176"/>
                </a:solidFill>
                <a:latin typeface="Calibri"/>
              </a:rPr>
              <a:t>O arquivo de aço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Organizado, confiável, relacional.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5B7176"/>
                </a:solidFill>
                <a:latin typeface="Calibri"/>
              </a:rPr>
              <a:t>Guarda o que não pode se perder: chaves de API e definições das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00200"/>
            <a:ext cx="3703320" cy="4206240"/>
          </a:xfrm>
          <a:prstGeom prst="roundRect">
            <a:avLst>
              <a:gd name="adj" fmla="val 7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1888" y="192024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1920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83464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600" b="1" i="0">
                <a:solidFill>
                  <a:srgbClr val="00A896"/>
                </a:solidFill>
                <a:latin typeface="Calibri"/>
              </a:rPr>
              <a:t>ElastiCache · Redis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350" b="0" i="1">
                <a:solidFill>
                  <a:srgbClr val="5B7176"/>
                </a:solidFill>
                <a:latin typeface="Calibri"/>
              </a:rPr>
              <a:t>O post-it na mesa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Acesso instantâneo, em memória.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5B7176"/>
                </a:solidFill>
                <a:latin typeface="Calibri"/>
              </a:rPr>
              <a:t>A resposta sim/não já pronta — sem ir ao banco a cada pergunta. Essencial no hot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600200"/>
            <a:ext cx="3703320" cy="4206240"/>
          </a:xfrm>
          <a:prstGeom prst="roundRect">
            <a:avLst>
              <a:gd name="adj" fmla="val 7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39528" y="192024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1920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83464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600" b="1" i="0">
                <a:solidFill>
                  <a:srgbClr val="02C39A"/>
                </a:solidFill>
                <a:latin typeface="Calibri"/>
              </a:rPr>
              <a:t>DynamoDB · NoSQL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350" b="0" i="1">
                <a:solidFill>
                  <a:srgbClr val="5B7176"/>
                </a:solidFill>
                <a:latin typeface="Calibri"/>
              </a:rPr>
              <a:t>A esteira do mercado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1F3237"/>
                </a:solidFill>
                <a:latin typeface="Calibri"/>
              </a:rPr>
              <a:t>Alto volume, sem parar.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5B7176"/>
                </a:solidFill>
                <a:latin typeface="Calibri"/>
              </a:rPr>
              <a:t>Recebe milhares de eventos de analytics por minuto, sem esquema rígido.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Regra de bolso: dado permanente no RDS · dado “quente” no Redis · dado em enxurrada no DynamoDB.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Escalabilidade automática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O sistema contrata ajudantes sozinho quando a fila cresce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28090"/>
                </a:solidFill>
                <a:latin typeface="Calibri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B7176"/>
                </a:solidFill>
                <a:latin typeface="Calibri"/>
              </a:rPr>
              <a:t>de CPU é o gatilho:
passou disso, escala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8308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A896"/>
                </a:solidFill>
                <a:latin typeface="Calibri"/>
              </a:rPr>
              <a:t>1 →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43200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B7176"/>
                </a:solidFill>
                <a:latin typeface="Calibri"/>
              </a:rPr>
              <a:t>pods do evaluation e do
analytics sob carga (HPA)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554480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2C39A"/>
                </a:solidFill>
                <a:latin typeface="Calibri"/>
              </a:rPr>
              <a:t>1 –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43200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B7176"/>
                </a:solidFill>
                <a:latin typeface="Calibri"/>
              </a:rPr>
              <a:t>máquinas no cluster
(auto scaling do node group)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39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3237"/>
                </a:solidFill>
                <a:latin typeface="Calibri"/>
              </a:rPr>
              <a:t>Como demonstramos no vídeo: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9943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99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F3237"/>
                </a:solidFill>
                <a:latin typeface="Calibri"/>
              </a:rPr>
              <a:t>Carga no evaluation — </a:t>
            </a:r>
            <a:r>
              <a:rPr sz="1350" b="0" i="0">
                <a:solidFill>
                  <a:srgbClr val="5B7176"/>
                </a:solidFill>
                <a:latin typeface="Calibri"/>
              </a:rPr>
              <a:t>Um gerador de requisições contínuas fez a CPU passar de 70% — o HPA criou o 2º pod em ~2 min.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5955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595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8640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F3237"/>
                </a:solidFill>
                <a:latin typeface="Calibri"/>
              </a:rPr>
              <a:t>200 mensagens na fila SQS — </a:t>
            </a:r>
            <a:r>
              <a:rPr sz="1350" b="0" i="0">
                <a:solidFill>
                  <a:srgbClr val="5B7176"/>
                </a:solidFill>
                <a:latin typeface="Calibri"/>
              </a:rPr>
              <a:t>O analytics consumiu a fila, a CPU subiu e o HPA escalou; os eventos apareceram no DynamoDB.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Dificuldades reais (e como resolvemos)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Os obstáculos que não estavam no roteiro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201400" cy="1051560"/>
          </a:xfrm>
          <a:prstGeom prst="roundRect">
            <a:avLst>
              <a:gd name="adj" fmla="val 10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64207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1F3237"/>
                </a:solidFill>
                <a:latin typeface="Calibri"/>
              </a:rPr>
              <a:t>Plano gratuito: só 2 bancos RDS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Precisávamos de 3. O banco do targeting virou um pod PostgreSQL dentro do cluster, com disco EBS. Aprovado pelo professor.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61488"/>
            <a:ext cx="11201400" cy="1051560"/>
          </a:xfrm>
          <a:prstGeom prst="roundRect">
            <a:avLst>
              <a:gd name="adj" fmla="val 10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71216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1F3237"/>
                </a:solidFill>
                <a:latin typeface="Calibri"/>
              </a:rPr>
              <a:t>Plano gratuito bloqueou a máquina t3.medium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A AWS recusou o tipo planejado para os nós. Trocamos pela c7i-flex.large — equivalente (2 vCPU / 4 GB) e permitida.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68496"/>
            <a:ext cx="11201400" cy="1051560"/>
          </a:xfrm>
          <a:prstGeom prst="roundRect">
            <a:avLst>
              <a:gd name="adj" fmla="val 10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224528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78224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1F3237"/>
                </a:solidFill>
                <a:latin typeface="Calibri"/>
              </a:rPr>
              <a:t>Script corrompido pelo Windows (CRLF)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O Git converteu as quebras de linha e o script que cria o banco local quebrou no contêiner Linux. Corrigido e travado no .gitattributes.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75504"/>
            <a:ext cx="11201400" cy="1051560"/>
          </a:xfrm>
          <a:prstGeom prst="roundRect">
            <a:avLst>
              <a:gd name="adj" fmla="val 10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5431536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285232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1F3237"/>
                </a:solidFill>
                <a:latin typeface="Calibri"/>
              </a:rPr>
              <a:t>Ajustes finos da infraestrutura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Porta 5432 fechada no firewall do RDS, disco padrão não configurado no cluster e tabelas ainda não criadas nos bancos — diagnosticados e corrigidos um a um no deploy.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B7176"/>
                </a:solidFill>
                <a:latin typeface="Calibri"/>
              </a:rPr>
              <a:t>Registro completo: docs/ARQUITETURA.md (seção 7) e 00_COLAB_IA/DECISOES.md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1206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237"/>
                </a:solidFill>
                <a:latin typeface="Calibri"/>
              </a:rPr>
              <a:t>Decisões de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B7176"/>
                </a:solidFill>
                <a:latin typeface="Calibri"/>
              </a:rPr>
              <a:t>Escolhas conscientes, com o porquê registrado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B7176"/>
                </a:solidFill>
                <a:latin typeface="Calibri"/>
              </a:rPr>
              <a:t>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5623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1F3237"/>
                </a:solidFill>
                <a:latin typeface="Calibri"/>
              </a:rPr>
              <a:t>Banco do targeting como pod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Contorna o limite de 2 RDS do plano gratuito sem custo extra. Disco EBS garante que os dados sobrevivem a reinícios.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5623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5623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1F3237"/>
                </a:solidFill>
                <a:latin typeface="Calibri"/>
              </a:rPr>
              <a:t>Serviços gerenciados sempre que possível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Redis, fila e NoSQL são da AWS (ElastiCache, SQS, DynamoDB): não custam quase nada parados e ninguém precisa operá-los.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14223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D-006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1F3237"/>
                </a:solidFill>
                <a:latin typeface="Calibri"/>
              </a:rPr>
              <a:t>Entrega mínima, simples e bem feita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1 réplica por serviço; HPA exatamente onde o desafio exige (evaluation e analytics). KEDA era opcional — pulado de propósito.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414223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4223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D-007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 i="0">
                <a:solidFill>
                  <a:srgbClr val="1F3237"/>
                </a:solidFill>
                <a:latin typeface="Calibri"/>
              </a:rPr>
              <a:t>Nós c7i-flex.large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B7176"/>
                </a:solidFill>
                <a:latin typeface="Calibri"/>
              </a:rPr>
              <a:t>Resposta à trava do plano gratuito: mesma capacidade da t3.medium planejada, custo por hora quase igual (~US$ 0,085/h).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5" y="539496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Resultado: tudo no ar, tudo demonstrado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63039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9 contêineres rodando localmente com um único docker compose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58568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1284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5 microsserviços em produção no EKS, atrás de um endereço público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008376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0837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62656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Escalabilidade demonstrada ao vivo: pods de 1 → 2 sob carga (HPA)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58183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58183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2463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Eventos fluindo: avaliação → fila SQS → analytics → DynamoDB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507992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Infra completa: EKS, ECR, RDS ×2, ElastiCache, SQS, DynamoDB e banco em 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23560"/>
            <a:ext cx="10607040" cy="77724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62356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Repositório: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github.com/fiap-devops-arqcloud-2026/tech-challenge-02   ·   </a:t>
            </a:r>
            <a:r>
              <a:rPr sz="1300" b="1" i="0">
                <a:solidFill>
                  <a:srgbClr val="02C39A"/>
                </a:solidFill>
                <a:latin typeface="Calibri"/>
              </a:rPr>
              <a:t>Detalhes: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docs/ARQUITETURA.md e vídeo da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ToggleMaster — Tech Challenge Fase 2 (FIAP POSTECH)</dc:title>
  <dc:subject/>
  <dc:creator>Grupo ToggleMaster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